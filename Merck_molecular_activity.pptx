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8" r:id="rId2"/>
    <p:sldId id="273" r:id="rId3"/>
    <p:sldId id="292" r:id="rId4"/>
    <p:sldId id="274" r:id="rId5"/>
    <p:sldId id="293" r:id="rId6"/>
    <p:sldId id="275" r:id="rId7"/>
    <p:sldId id="294" r:id="rId8"/>
    <p:sldId id="276" r:id="rId9"/>
    <p:sldId id="295" r:id="rId10"/>
    <p:sldId id="277" r:id="rId11"/>
    <p:sldId id="296" r:id="rId12"/>
    <p:sldId id="278" r:id="rId13"/>
    <p:sldId id="297" r:id="rId14"/>
    <p:sldId id="279" r:id="rId15"/>
    <p:sldId id="298" r:id="rId16"/>
    <p:sldId id="280" r:id="rId17"/>
    <p:sldId id="299" r:id="rId18"/>
    <p:sldId id="281" r:id="rId19"/>
    <p:sldId id="300" r:id="rId20"/>
    <p:sldId id="282" r:id="rId21"/>
    <p:sldId id="301" r:id="rId22"/>
    <p:sldId id="283" r:id="rId23"/>
    <p:sldId id="302" r:id="rId24"/>
    <p:sldId id="284" r:id="rId25"/>
    <p:sldId id="290" r:id="rId26"/>
    <p:sldId id="285" r:id="rId27"/>
    <p:sldId id="303" r:id="rId28"/>
    <p:sldId id="286" r:id="rId29"/>
    <p:sldId id="304" r:id="rId30"/>
    <p:sldId id="287" r:id="rId31"/>
    <p:sldId id="289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39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5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86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67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74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305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11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51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9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7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107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223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9648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883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098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0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3D384-F797-4D4F-B995-2E8623873E4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557393-02E3-495E-A9E1-DE30214F2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12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FD8A-A578-00CC-F3FA-1D9D705E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Merck molecular activity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2B693-05AA-1105-8B9E-60945A1C7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Developing a framework that can be used to build a model to predict activity of the compounds with the help of their descriptors only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660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FAB2-CA1D-35CC-FF29-FF345541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804BEA-DCBC-838A-6835-B127132A8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30" y="1262905"/>
            <a:ext cx="6993869" cy="559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84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B6FF-4465-695C-D785-61F3FA07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B03BA4D-AD58-710D-366A-F57D3A9AF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248" y="1470455"/>
            <a:ext cx="4981575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F28626-F860-705A-FB66-CAF8B09C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3D315C0-C42A-5BA5-EDF9-7A2695F1C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476198"/>
              </p:ext>
            </p:extLst>
          </p:nvPr>
        </p:nvGraphicFramePr>
        <p:xfrm>
          <a:off x="765110" y="1789681"/>
          <a:ext cx="156613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36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1140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0.5758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272378-9844-1E93-31E0-4CDDB0C4AB2B}"/>
              </a:ext>
            </a:extLst>
          </p:cNvPr>
          <p:cNvSpPr txBox="1"/>
          <p:nvPr/>
        </p:nvSpPr>
        <p:spPr>
          <a:xfrm>
            <a:off x="838200" y="1382541"/>
            <a:ext cx="182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NN model 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60532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9F09-0CEB-BEA7-AA83-32F13F3E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ACEA7-1415-6581-70E8-3628AD66F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0" y="1270000"/>
            <a:ext cx="6901132" cy="552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4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56496-FB81-F0D4-51C1-AB48F030F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0E29-1486-351B-480B-E5693373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ACT2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FFB38E4-8A8B-F79C-A734-3D0B5F96D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687569"/>
              </p:ext>
            </p:extLst>
          </p:nvPr>
        </p:nvGraphicFramePr>
        <p:xfrm>
          <a:off x="765110" y="1789681"/>
          <a:ext cx="156613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36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1140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016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0.6759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934875-55A6-8376-3B7C-794787F5C30D}"/>
              </a:ext>
            </a:extLst>
          </p:cNvPr>
          <p:cNvSpPr txBox="1"/>
          <p:nvPr/>
        </p:nvSpPr>
        <p:spPr>
          <a:xfrm>
            <a:off x="550506" y="1382541"/>
            <a:ext cx="210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6BD92-0558-2724-5D3B-869668DEA98E}"/>
              </a:ext>
            </a:extLst>
          </p:cNvPr>
          <p:cNvSpPr txBox="1"/>
          <p:nvPr/>
        </p:nvSpPr>
        <p:spPr>
          <a:xfrm>
            <a:off x="3524638" y="1382541"/>
            <a:ext cx="5432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9032F1-FCB0-88E0-9679-58B1EAD977CC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7" y="1567207"/>
            <a:ext cx="866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064C534-4282-86D1-DAF6-3B8DF4D43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013" y="1862789"/>
            <a:ext cx="4849099" cy="499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87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17C4-8AC2-DBC5-3306-7D729A273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1E679-D65A-B3BB-FBF7-67B6D6548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5" y="1431985"/>
            <a:ext cx="6782519" cy="54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4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0AEB-7BD8-47FE-1790-F9CBEB2E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9814-8F06-B8C2-BC36-FDB633AD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ACT3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0B6C34B-C80A-E80B-AAEC-93F70C3B8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03025"/>
              </p:ext>
            </p:extLst>
          </p:nvPr>
        </p:nvGraphicFramePr>
        <p:xfrm>
          <a:off x="765110" y="1789681"/>
          <a:ext cx="156613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36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1140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0.6643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347E4A-1D48-D84E-E8FF-4D9DAEFD56A1}"/>
              </a:ext>
            </a:extLst>
          </p:cNvPr>
          <p:cNvSpPr txBox="1"/>
          <p:nvPr/>
        </p:nvSpPr>
        <p:spPr>
          <a:xfrm>
            <a:off x="677334" y="1382541"/>
            <a:ext cx="198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5016E-9C61-E293-6E72-14EDF1BBE0AE}"/>
              </a:ext>
            </a:extLst>
          </p:cNvPr>
          <p:cNvSpPr txBox="1"/>
          <p:nvPr/>
        </p:nvSpPr>
        <p:spPr>
          <a:xfrm>
            <a:off x="3524639" y="1382541"/>
            <a:ext cx="5031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E3990D-CC5F-BF03-0F8A-F1EAF815B9CD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7" y="1567207"/>
            <a:ext cx="866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1CF86C6-9C1D-C67E-A7E0-225198E7B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760" y="1789681"/>
            <a:ext cx="4897815" cy="501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4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3880-B486-AC2F-D9EB-C15991C7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7D5B4-8BAE-F2C6-E304-CB24AC529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89" y="1155850"/>
            <a:ext cx="7127688" cy="570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2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4DDA-6347-12F3-7382-AED6EC67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781B-C0A1-AB61-C5E9-9A4E4FF4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ACT4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84AEDF6-F9D1-63B2-969B-1B2459D82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912135"/>
              </p:ext>
            </p:extLst>
          </p:nvPr>
        </p:nvGraphicFramePr>
        <p:xfrm>
          <a:off x="677334" y="1789681"/>
          <a:ext cx="165391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432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6248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0.5163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2F06CD-0449-5DCE-87E0-080C9FC97C39}"/>
              </a:ext>
            </a:extLst>
          </p:cNvPr>
          <p:cNvSpPr txBox="1"/>
          <p:nvPr/>
        </p:nvSpPr>
        <p:spPr>
          <a:xfrm>
            <a:off x="677334" y="1382541"/>
            <a:ext cx="198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89E30-9B74-2202-3C45-299BB0411D0F}"/>
              </a:ext>
            </a:extLst>
          </p:cNvPr>
          <p:cNvSpPr txBox="1"/>
          <p:nvPr/>
        </p:nvSpPr>
        <p:spPr>
          <a:xfrm>
            <a:off x="3524639" y="1382541"/>
            <a:ext cx="5115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04A0A6-3C5E-7561-EBFD-E3EF4003AEB3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7" y="1567207"/>
            <a:ext cx="866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A653E39-0E8E-4760-5C6F-2F1E2EE1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521" y="1930400"/>
            <a:ext cx="4669299" cy="47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07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26CF-0334-34D0-93F7-CBDCCCA9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69F3A9-FC11-B527-CAE7-9BB38C264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71600"/>
            <a:ext cx="6858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3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5D8F-7773-B75E-66F6-CC0A8D17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3B2F-9907-E0A3-93DA-3A0B694A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ACT5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BC9081-0E23-7E21-990C-D8DF706F2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870262"/>
              </p:ext>
            </p:extLst>
          </p:nvPr>
        </p:nvGraphicFramePr>
        <p:xfrm>
          <a:off x="677334" y="1789681"/>
          <a:ext cx="165391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432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6248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0.6824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FB4F5-2B49-0D2A-763F-5BE827D8C3C9}"/>
              </a:ext>
            </a:extLst>
          </p:cNvPr>
          <p:cNvSpPr txBox="1"/>
          <p:nvPr/>
        </p:nvSpPr>
        <p:spPr>
          <a:xfrm>
            <a:off x="587830" y="1382541"/>
            <a:ext cx="207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123AD-B6E8-1039-8E4D-FB62C32A53FD}"/>
              </a:ext>
            </a:extLst>
          </p:cNvPr>
          <p:cNvSpPr txBox="1"/>
          <p:nvPr/>
        </p:nvSpPr>
        <p:spPr>
          <a:xfrm>
            <a:off x="3524638" y="1382541"/>
            <a:ext cx="5227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C4BE67-C43F-76A1-7201-20E24B5965AD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8" y="1567207"/>
            <a:ext cx="866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314" name="Picture 2">
            <a:extLst>
              <a:ext uri="{FF2B5EF4-FFF2-40B4-BE49-F238E27FC236}">
                <a16:creationId xmlns:a16="http://schemas.microsoft.com/office/drawing/2014/main" id="{CD071609-3066-DBAC-6B0C-27EE8005A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262" y="2115066"/>
            <a:ext cx="4546341" cy="46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53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69B5-BF2B-3079-BB78-170DF0FE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EA0B6-F22F-FA0A-E04F-AA0F626D6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173335"/>
            <a:ext cx="7012525" cy="561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9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37288-2706-9749-4AA7-336FD3FF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7F96-0FF7-4B80-4B48-D7A4EE3C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A942CDF-AB7E-3AA4-D083-36056034D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97586"/>
              </p:ext>
            </p:extLst>
          </p:nvPr>
        </p:nvGraphicFramePr>
        <p:xfrm>
          <a:off x="838200" y="1789681"/>
          <a:ext cx="149304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180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868868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0.6165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5DA2C3-748C-6822-5FDC-DE5735689145}"/>
              </a:ext>
            </a:extLst>
          </p:cNvPr>
          <p:cNvSpPr txBox="1"/>
          <p:nvPr/>
        </p:nvSpPr>
        <p:spPr>
          <a:xfrm>
            <a:off x="838200" y="1382541"/>
            <a:ext cx="182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NN model 4</a:t>
            </a:r>
            <a:endParaRPr lang="en-IN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9F6D646-566B-4058-C593-65F0BD23E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248" y="1567207"/>
            <a:ext cx="5086350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57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8F90-5CD9-50BE-CACA-B0F4ABB3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CA517-A510-892B-F7C5-B210313FA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72" y="1199072"/>
            <a:ext cx="7073660" cy="565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42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B73E1-E8EC-AE16-F183-133BDDE7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8CF5-ED5C-4876-087C-9C5C4BFF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ACT7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CD4B252-260E-B4AE-D0FE-980D7403C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016378"/>
              </p:ext>
            </p:extLst>
          </p:nvPr>
        </p:nvGraphicFramePr>
        <p:xfrm>
          <a:off x="677334" y="1789681"/>
          <a:ext cx="165391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432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6248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0.6087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DF9B55-4386-D418-FE0F-B18539A16DB1}"/>
              </a:ext>
            </a:extLst>
          </p:cNvPr>
          <p:cNvSpPr txBox="1"/>
          <p:nvPr/>
        </p:nvSpPr>
        <p:spPr>
          <a:xfrm>
            <a:off x="559838" y="1382541"/>
            <a:ext cx="2098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0B1FF-22E3-20DA-CC1D-0ECE1E46CB63}"/>
              </a:ext>
            </a:extLst>
          </p:cNvPr>
          <p:cNvSpPr txBox="1"/>
          <p:nvPr/>
        </p:nvSpPr>
        <p:spPr>
          <a:xfrm>
            <a:off x="3524639" y="1382541"/>
            <a:ext cx="5572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17B2B7-8A42-D8ED-1320-78003AFF4FA3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8" y="1567207"/>
            <a:ext cx="866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3EEE696-373F-C2CB-B0D2-C186C9294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975" y="1971578"/>
            <a:ext cx="4868556" cy="488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999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8473-C871-3504-C0D2-7167995E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F9FF1-7A15-C68E-5FF3-C74BE6DB5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28" y="1270000"/>
            <a:ext cx="6967124" cy="55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14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4BCEC-AB9F-290F-D1F0-B03B168B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9444-4A64-3940-91E8-35F9287F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ACT8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AD5B1D8-95DE-31A6-E168-439EB6CA2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108795"/>
              </p:ext>
            </p:extLst>
          </p:nvPr>
        </p:nvGraphicFramePr>
        <p:xfrm>
          <a:off x="677334" y="1789681"/>
          <a:ext cx="165391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432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6248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0.6979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73AB11C-CB49-1D8B-512C-FA77E8CC1720}"/>
              </a:ext>
            </a:extLst>
          </p:cNvPr>
          <p:cNvSpPr txBox="1"/>
          <p:nvPr/>
        </p:nvSpPr>
        <p:spPr>
          <a:xfrm>
            <a:off x="606490" y="1382541"/>
            <a:ext cx="2051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43280-CAFD-C2CE-DFB2-6857D77F1DEF}"/>
              </a:ext>
            </a:extLst>
          </p:cNvPr>
          <p:cNvSpPr txBox="1"/>
          <p:nvPr/>
        </p:nvSpPr>
        <p:spPr>
          <a:xfrm>
            <a:off x="3524638" y="1382541"/>
            <a:ext cx="5040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61DE41-3A6B-FFCF-7132-9294DABB58A2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7" y="1567207"/>
            <a:ext cx="866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AFF2B3F-9208-B90A-091B-79DE2FCEA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367" y="1930400"/>
            <a:ext cx="4747972" cy="489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119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AE61-4567-60CE-7420-163EC913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AEA80-C9ED-FF26-B3E7-961B763BA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35" y="1188947"/>
            <a:ext cx="6981347" cy="55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1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B743-E452-0800-C7F2-75B894C5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F4F1-2E06-1657-788C-D5E728AC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ACT9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16B8E8C-EEDA-B50F-1C79-568EC4703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698287"/>
              </p:ext>
            </p:extLst>
          </p:nvPr>
        </p:nvGraphicFramePr>
        <p:xfrm>
          <a:off x="821094" y="1789681"/>
          <a:ext cx="151015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332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878822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0.7531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F5D9A2-E8AB-56D6-2E40-A124582CC3AA}"/>
              </a:ext>
            </a:extLst>
          </p:cNvPr>
          <p:cNvSpPr txBox="1"/>
          <p:nvPr/>
        </p:nvSpPr>
        <p:spPr>
          <a:xfrm>
            <a:off x="531846" y="1382541"/>
            <a:ext cx="212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7FAAE-7218-B1C5-267C-B5E0ED15F823}"/>
              </a:ext>
            </a:extLst>
          </p:cNvPr>
          <p:cNvSpPr txBox="1"/>
          <p:nvPr/>
        </p:nvSpPr>
        <p:spPr>
          <a:xfrm>
            <a:off x="3524639" y="1382541"/>
            <a:ext cx="520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B344EA-4C87-D2BD-B557-E7E8C255B21E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8" y="1567207"/>
            <a:ext cx="866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46920C1-1D63-061D-F779-548F59B4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296" y="2155441"/>
            <a:ext cx="4437871" cy="456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797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F123-4585-28F7-AC24-E4D3C7ED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AA1D6A-DD9E-7D53-C288-C4F7D2D08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61" y="1184437"/>
            <a:ext cx="6975320" cy="55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40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1B26-CEF9-E52C-EAC6-6A7C4C12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5D1B-A3AC-EDC0-4844-E8FEE288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ACT10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5959E2-F764-B7EA-85FB-E91784E6B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748064"/>
              </p:ext>
            </p:extLst>
          </p:nvPr>
        </p:nvGraphicFramePr>
        <p:xfrm>
          <a:off x="838200" y="1789681"/>
          <a:ext cx="149304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181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868867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7B83E19-E952-FADD-4B54-7F75C492B9F0}"/>
              </a:ext>
            </a:extLst>
          </p:cNvPr>
          <p:cNvSpPr txBox="1"/>
          <p:nvPr/>
        </p:nvSpPr>
        <p:spPr>
          <a:xfrm>
            <a:off x="838200" y="1382541"/>
            <a:ext cx="182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NN model 1</a:t>
            </a:r>
            <a:endParaRPr lang="en-IN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3A1ED0-DD9D-66FF-AF90-0062EDC2C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248" y="1571872"/>
            <a:ext cx="5057775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861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77AB-09F0-D56F-9922-73E74C5C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26FA8A-832B-8C73-AAEE-FA814393E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05" y="1270000"/>
            <a:ext cx="6904366" cy="552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02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6D84-67F1-1ABC-128B-DA303B9A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6AE3-DED9-B22E-754D-E305767F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ACT11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72DEA82-CF18-3C61-FC0A-EACF66E1B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752982"/>
              </p:ext>
            </p:extLst>
          </p:nvPr>
        </p:nvGraphicFramePr>
        <p:xfrm>
          <a:off x="1006350" y="1789681"/>
          <a:ext cx="13248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884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771014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0.5758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F4A8F2C-07B8-0030-9CE3-E0A71FC00532}"/>
              </a:ext>
            </a:extLst>
          </p:cNvPr>
          <p:cNvSpPr txBox="1"/>
          <p:nvPr/>
        </p:nvSpPr>
        <p:spPr>
          <a:xfrm>
            <a:off x="838200" y="1382541"/>
            <a:ext cx="182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NN model 1</a:t>
            </a:r>
            <a:endParaRPr lang="en-IN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89FE3A9-A5E5-1A63-CEAF-5E49B0E04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281" y="1567207"/>
            <a:ext cx="5210175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197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E9F3-6D6A-1C34-EFA6-CA64A71D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FACDE-E2AB-C8F1-1E84-B51CAE68A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41599"/>
            <a:ext cx="6770501" cy="54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11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3104F-D25B-B48F-6D38-42BCC73F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AD1D-7467-EE13-1F17-8B497813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ACT12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FAEA0CD-DD60-DB48-154E-73E0C1677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234945"/>
              </p:ext>
            </p:extLst>
          </p:nvPr>
        </p:nvGraphicFramePr>
        <p:xfrm>
          <a:off x="677334" y="1690688"/>
          <a:ext cx="148576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135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864629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0.5274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7778F03-BD84-2096-0C70-5A26904397AD}"/>
              </a:ext>
            </a:extLst>
          </p:cNvPr>
          <p:cNvSpPr txBox="1"/>
          <p:nvPr/>
        </p:nvSpPr>
        <p:spPr>
          <a:xfrm>
            <a:off x="838200" y="1321356"/>
            <a:ext cx="115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XGBoost</a:t>
            </a:r>
            <a:endParaRPr lang="en-IN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B33D43-9E9C-CEAE-088A-8E132EEB6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98" y="1153404"/>
            <a:ext cx="5463680" cy="480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969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161C-EE9A-6775-9B29-1F6A23682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1271B-3D53-B5D9-BE3A-E4304BC81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31" y="1270000"/>
            <a:ext cx="6957850" cy="556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23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D37A-35E3-9766-8D2D-CE1CDBC81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7CBF-02B5-9ADB-41EF-CFFE7A1EC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ACT13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BC4592B-60EA-855F-6889-9AFA9255F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196045"/>
              </p:ext>
            </p:extLst>
          </p:nvPr>
        </p:nvGraphicFramePr>
        <p:xfrm>
          <a:off x="1006350" y="1789681"/>
          <a:ext cx="13248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884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771014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0.3632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8030FF-FF90-2CA9-E711-9564CD326E26}"/>
              </a:ext>
            </a:extLst>
          </p:cNvPr>
          <p:cNvSpPr txBox="1"/>
          <p:nvPr/>
        </p:nvSpPr>
        <p:spPr>
          <a:xfrm>
            <a:off x="838200" y="1382541"/>
            <a:ext cx="182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NN model 4</a:t>
            </a:r>
            <a:endParaRPr lang="en-IN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6440DF5-AA1F-FFF5-B655-703B40A60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383" y="1382541"/>
            <a:ext cx="4822538" cy="493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327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39FC-04B6-022F-BDA0-A972D7A9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CACF0-FBCF-3CF2-D2BA-292721BCB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12" y="1207698"/>
            <a:ext cx="7062878" cy="56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52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D30E7-474D-474B-0EFF-52C9EF1C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D561-4760-E01C-A8A5-4BE74AB7E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ACT14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C13EEF0-ECBA-E9B4-D689-530A444E6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179089"/>
              </p:ext>
            </p:extLst>
          </p:nvPr>
        </p:nvGraphicFramePr>
        <p:xfrm>
          <a:off x="755780" y="1789681"/>
          <a:ext cx="157546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637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916831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0.3296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AD3893-CF3C-32A9-033F-FF322D053B21}"/>
              </a:ext>
            </a:extLst>
          </p:cNvPr>
          <p:cNvSpPr txBox="1"/>
          <p:nvPr/>
        </p:nvSpPr>
        <p:spPr>
          <a:xfrm>
            <a:off x="677334" y="1382541"/>
            <a:ext cx="198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4E227-F032-B06B-AFC5-85750945A500}"/>
              </a:ext>
            </a:extLst>
          </p:cNvPr>
          <p:cNvSpPr txBox="1"/>
          <p:nvPr/>
        </p:nvSpPr>
        <p:spPr>
          <a:xfrm>
            <a:off x="3524638" y="1382541"/>
            <a:ext cx="531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3E48A7-0E62-7395-00D2-943A3B2BB6E8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7" y="1567207"/>
            <a:ext cx="866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70" name="Picture 2">
            <a:extLst>
              <a:ext uri="{FF2B5EF4-FFF2-40B4-BE49-F238E27FC236}">
                <a16:creationId xmlns:a16="http://schemas.microsoft.com/office/drawing/2014/main" id="{2CDA5378-5F7A-B24D-095A-8A494F70B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953" y="2019581"/>
            <a:ext cx="4723429" cy="483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522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7C17-85AF-FB68-93FD-C0857D21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B00E8-DA5C-598E-87AB-046E18D6D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90" y="1223617"/>
            <a:ext cx="7042979" cy="563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07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55A04-82F1-8072-F661-2EA9CB43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4263-DEC5-A088-D3C1-BE442AAB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ACT15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655C25-61A5-4F47-A7A1-B9339C8E1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42008"/>
              </p:ext>
            </p:extLst>
          </p:nvPr>
        </p:nvGraphicFramePr>
        <p:xfrm>
          <a:off x="1006350" y="1789681"/>
          <a:ext cx="13248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884">
                  <a:extLst>
                    <a:ext uri="{9D8B030D-6E8A-4147-A177-3AD203B41FA5}">
                      <a16:colId xmlns:a16="http://schemas.microsoft.com/office/drawing/2014/main" val="3733334497"/>
                    </a:ext>
                  </a:extLst>
                </a:gridCol>
                <a:gridCol w="771014">
                  <a:extLst>
                    <a:ext uri="{9D8B030D-6E8A-4147-A177-3AD203B41FA5}">
                      <a16:colId xmlns:a16="http://schemas.microsoft.com/office/drawing/2014/main" val="1525549772"/>
                    </a:ext>
                  </a:extLst>
                </a:gridCol>
              </a:tblGrid>
              <a:tr h="235337">
                <a:tc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 </a:t>
                      </a:r>
                      <a:r>
                        <a:rPr lang="en-US" sz="1200" dirty="0" err="1"/>
                        <a:t>squere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928045"/>
                  </a:ext>
                </a:extLst>
              </a:tr>
              <a:tr h="2353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Test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0.796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06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F4AFCD-F278-3E2D-D099-A3893BAA42D1}"/>
              </a:ext>
            </a:extLst>
          </p:cNvPr>
          <p:cNvSpPr txBox="1"/>
          <p:nvPr/>
        </p:nvSpPr>
        <p:spPr>
          <a:xfrm>
            <a:off x="677334" y="1382541"/>
            <a:ext cx="198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model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5B6619-89D2-5E1C-5E25-DC9E0A330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276" y="1789681"/>
            <a:ext cx="4810783" cy="490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6EF0EB-C45D-455B-EDD3-D5FEB1132C69}"/>
              </a:ext>
            </a:extLst>
          </p:cNvPr>
          <p:cNvSpPr txBox="1"/>
          <p:nvPr/>
        </p:nvSpPr>
        <p:spPr>
          <a:xfrm>
            <a:off x="3524639" y="1382541"/>
            <a:ext cx="5115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SVR + </a:t>
            </a:r>
            <a:r>
              <a:rPr lang="en-IN" dirty="0" err="1"/>
              <a:t>KernelRidge</a:t>
            </a:r>
            <a:r>
              <a:rPr lang="en-IN" dirty="0"/>
              <a:t> + </a:t>
            </a:r>
            <a:r>
              <a:rPr lang="en-IN" dirty="0" err="1"/>
              <a:t>GaussianProcessRegressor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C2ED8D-3940-6A83-3012-EBF3F337FE0A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658367" y="1567207"/>
            <a:ext cx="866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817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10ADB-A115-2066-1514-90AD855D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DC11DD-B6DF-4EA5-8FB9-E3C76EB7F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906494"/>
              </p:ext>
            </p:extLst>
          </p:nvPr>
        </p:nvGraphicFramePr>
        <p:xfrm>
          <a:off x="805228" y="1930400"/>
          <a:ext cx="8340880" cy="376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610">
                  <a:extLst>
                    <a:ext uri="{9D8B030D-6E8A-4147-A177-3AD203B41FA5}">
                      <a16:colId xmlns:a16="http://schemas.microsoft.com/office/drawing/2014/main" val="2285377394"/>
                    </a:ext>
                  </a:extLst>
                </a:gridCol>
                <a:gridCol w="1042610">
                  <a:extLst>
                    <a:ext uri="{9D8B030D-6E8A-4147-A177-3AD203B41FA5}">
                      <a16:colId xmlns:a16="http://schemas.microsoft.com/office/drawing/2014/main" val="488441598"/>
                    </a:ext>
                  </a:extLst>
                </a:gridCol>
                <a:gridCol w="1042610">
                  <a:extLst>
                    <a:ext uri="{9D8B030D-6E8A-4147-A177-3AD203B41FA5}">
                      <a16:colId xmlns:a16="http://schemas.microsoft.com/office/drawing/2014/main" val="1067165635"/>
                    </a:ext>
                  </a:extLst>
                </a:gridCol>
                <a:gridCol w="1042610">
                  <a:extLst>
                    <a:ext uri="{9D8B030D-6E8A-4147-A177-3AD203B41FA5}">
                      <a16:colId xmlns:a16="http://schemas.microsoft.com/office/drawing/2014/main" val="940204068"/>
                    </a:ext>
                  </a:extLst>
                </a:gridCol>
                <a:gridCol w="1042610">
                  <a:extLst>
                    <a:ext uri="{9D8B030D-6E8A-4147-A177-3AD203B41FA5}">
                      <a16:colId xmlns:a16="http://schemas.microsoft.com/office/drawing/2014/main" val="2691910433"/>
                    </a:ext>
                  </a:extLst>
                </a:gridCol>
                <a:gridCol w="1042610">
                  <a:extLst>
                    <a:ext uri="{9D8B030D-6E8A-4147-A177-3AD203B41FA5}">
                      <a16:colId xmlns:a16="http://schemas.microsoft.com/office/drawing/2014/main" val="830169248"/>
                    </a:ext>
                  </a:extLst>
                </a:gridCol>
                <a:gridCol w="1042610">
                  <a:extLst>
                    <a:ext uri="{9D8B030D-6E8A-4147-A177-3AD203B41FA5}">
                      <a16:colId xmlns:a16="http://schemas.microsoft.com/office/drawing/2014/main" val="2372201779"/>
                    </a:ext>
                  </a:extLst>
                </a:gridCol>
                <a:gridCol w="1042610">
                  <a:extLst>
                    <a:ext uri="{9D8B030D-6E8A-4147-A177-3AD203B41FA5}">
                      <a16:colId xmlns:a16="http://schemas.microsoft.com/office/drawing/2014/main" val="4204992446"/>
                    </a:ext>
                  </a:extLst>
                </a:gridCol>
              </a:tblGrid>
              <a:tr h="5910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Model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XGBoost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Ensemble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Architecture1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Architecture2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Architecture3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Architecture4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Best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1926233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0.5451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0.5321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0.5787</a:t>
                      </a:r>
                      <a:endParaRPr lang="en-IN" sz="11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0.5567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0.5712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0.5787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3207761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0.5889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0.6759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0.6227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0.4644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0.6759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2027012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0.5578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0.6643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0.6431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0.6406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0.5374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4727572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0.5157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0.5163</a:t>
                      </a:r>
                      <a:endParaRPr lang="en-IN" sz="11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0.2074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0.2307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0.1155</a:t>
                      </a:r>
                      <a:endParaRPr lang="en-IN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0.5163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7761275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0.6292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0.6824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0.5934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0.5906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0.6824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62548461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0.5053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0.5902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0.6165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0.6165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9978333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0.537</a:t>
                      </a:r>
                      <a:endParaRPr lang="en-IN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0.6087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0.5789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0.5876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0.5867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0.5931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0.6087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9334801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0.6506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0.6979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0.6333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0.6225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0.6288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0.6261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0.6979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33527189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0.6969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0.7531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0.7044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0.7248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0.6703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0.6648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0.7531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5714977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ACT10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0.6851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0.7101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0.7052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0.6831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0.7001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0.7101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551845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0.5013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0.5623</a:t>
                      </a:r>
                      <a:endParaRPr lang="en-IN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0.5758</a:t>
                      </a:r>
                      <a:endParaRPr lang="en-IN" sz="11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0.5464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0.5233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0.5516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0.5758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56138787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ACT12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0.5274</a:t>
                      </a:r>
                      <a:endParaRPr lang="en-IN" sz="11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0.5617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0.5668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0.5703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0.5257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0.5611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0.5703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9466407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ACT13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0.3405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0.3536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0.3117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0.3459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0.3266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0.3632</a:t>
                      </a:r>
                      <a:endParaRPr lang="en-IN" sz="11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0.3632</a:t>
                      </a:r>
                      <a:endParaRPr lang="en-IN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16654701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0.3086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0.3296</a:t>
                      </a:r>
                      <a:endParaRPr lang="en-IN" sz="11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0.3062</a:t>
                      </a:r>
                      <a:endParaRPr lang="en-IN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0.2793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0.2864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0.2891</a:t>
                      </a:r>
                      <a:endParaRPr lang="en-IN" sz="1100" b="0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u="none" strike="noStrike" dirty="0">
                          <a:effectLst/>
                        </a:rPr>
                        <a:t>0.3296</a:t>
                      </a:r>
                      <a:endParaRPr lang="en-IN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27640246"/>
                  </a:ext>
                </a:extLst>
              </a:tr>
              <a:tr h="2117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ACT15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0.7196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0.7959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0.7346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0.6839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0.7228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0.7051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0.7959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358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2670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650</TotalTime>
  <Words>325</Words>
  <Application>Microsoft Office PowerPoint</Application>
  <PresentationFormat>Widescreen</PresentationFormat>
  <Paragraphs>230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Trebuchet MS</vt:lpstr>
      <vt:lpstr>Wingdings 3</vt:lpstr>
      <vt:lpstr>Facet</vt:lpstr>
      <vt:lpstr>Merck molecular activity</vt:lpstr>
      <vt:lpstr>ACT1</vt:lpstr>
      <vt:lpstr>ACT1</vt:lpstr>
      <vt:lpstr>ACT2</vt:lpstr>
      <vt:lpstr>ACT2</vt:lpstr>
      <vt:lpstr>ACT3</vt:lpstr>
      <vt:lpstr>ACT3</vt:lpstr>
      <vt:lpstr>ACT4</vt:lpstr>
      <vt:lpstr>ACT4</vt:lpstr>
      <vt:lpstr>ACT5</vt:lpstr>
      <vt:lpstr>ACT5</vt:lpstr>
      <vt:lpstr>ACT6</vt:lpstr>
      <vt:lpstr>ACT6</vt:lpstr>
      <vt:lpstr>ACT7</vt:lpstr>
      <vt:lpstr>ACT7</vt:lpstr>
      <vt:lpstr>ACT8</vt:lpstr>
      <vt:lpstr>ACT8</vt:lpstr>
      <vt:lpstr>ACT9</vt:lpstr>
      <vt:lpstr>ACT9</vt:lpstr>
      <vt:lpstr>ACT10</vt:lpstr>
      <vt:lpstr>ACT10</vt:lpstr>
      <vt:lpstr>ACT11</vt:lpstr>
      <vt:lpstr>ACT11</vt:lpstr>
      <vt:lpstr>ACT12</vt:lpstr>
      <vt:lpstr>ACT12</vt:lpstr>
      <vt:lpstr>ACT13</vt:lpstr>
      <vt:lpstr>ACT13</vt:lpstr>
      <vt:lpstr>ACT14</vt:lpstr>
      <vt:lpstr>ACT14</vt:lpstr>
      <vt:lpstr>ACT15</vt:lpstr>
      <vt:lpstr>ACT15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Shasank Shekhar Padhi</dc:creator>
  <cp:lastModifiedBy>Shasank Shekhar Padhi</cp:lastModifiedBy>
  <cp:revision>5</cp:revision>
  <dcterms:created xsi:type="dcterms:W3CDTF">2025-12-12T15:18:23Z</dcterms:created>
  <dcterms:modified xsi:type="dcterms:W3CDTF">2025-12-14T08:30:45Z</dcterms:modified>
</cp:coreProperties>
</file>